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c7ddcca37c403f" /><Relationship Type="http://schemas.openxmlformats.org/officeDocument/2006/relationships/extended-properties" Target="/docProps/app.xml" Id="Rcaee38d27afb459b" /><Relationship Type="http://schemas.openxmlformats.org/officeDocument/2006/relationships/officeDocument" Target="/ppt/presentation.xml" Id="Ref71ba61428942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4487e56e174d89"/>
  </p:sldMasterIdLst>
  <p:notesMasterIdLst>
    <p:notesMasterId xmlns:r="http://schemas.openxmlformats.org/officeDocument/2006/relationships" r:id="Re9399027e1514e49"/>
  </p:notesMasterIdLst>
  <p:sldIdLst>
    <p:sldId xmlns:r="http://schemas.openxmlformats.org/officeDocument/2006/relationships" id="256" r:id="R544f5160a8024d6b"/>
    <p:sldId xmlns:r="http://schemas.openxmlformats.org/officeDocument/2006/relationships" id="257" r:id="R69910bb153434005"/>
    <p:sldId xmlns:r="http://schemas.openxmlformats.org/officeDocument/2006/relationships" id="258" r:id="Rb35d3bd63a1c423e"/>
    <p:sldId xmlns:r="http://schemas.openxmlformats.org/officeDocument/2006/relationships" id="259" r:id="R483c1ac73e3942f7"/>
    <p:sldId xmlns:r="http://schemas.openxmlformats.org/officeDocument/2006/relationships" id="260" r:id="R6501cf419dae4315"/>
    <p:sldId xmlns:r="http://schemas.openxmlformats.org/officeDocument/2006/relationships" id="261" r:id="R35d0383966034de0"/>
    <p:sldId xmlns:r="http://schemas.openxmlformats.org/officeDocument/2006/relationships" id="262" r:id="R48cf4e80c5c94897"/>
    <p:sldId xmlns:r="http://schemas.openxmlformats.org/officeDocument/2006/relationships" id="263" r:id="Re042d52c91934b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6362d41f1c4298" /><Relationship Type="http://schemas.openxmlformats.org/officeDocument/2006/relationships/slideMaster" Target="/ppt/slideMasters/slideMaster1.xml" Id="R694487e56e174d89" /><Relationship Type="http://schemas.openxmlformats.org/officeDocument/2006/relationships/notesMaster" Target="/ppt/notesMasters/notesMaster1.xml" Id="Re9399027e1514e49" /><Relationship Type="http://schemas.openxmlformats.org/officeDocument/2006/relationships/presProps" Target="/ppt/presProps.xml" Id="R3a359dfa315245d6" /><Relationship Type="http://schemas.openxmlformats.org/officeDocument/2006/relationships/tableStyles" Target="/ppt/tableStyles.xml" Id="R47456492c3db457d" /><Relationship Type="http://schemas.openxmlformats.org/officeDocument/2006/relationships/slide" Target="/ppt/slides/slide1.xml" Id="R544f5160a8024d6b" /><Relationship Type="http://schemas.openxmlformats.org/officeDocument/2006/relationships/slide" Target="/ppt/slides/slide2.xml" Id="R69910bb153434005" /><Relationship Type="http://schemas.openxmlformats.org/officeDocument/2006/relationships/slide" Target="/ppt/slides/slide3.xml" Id="Rb35d3bd63a1c423e" /><Relationship Type="http://schemas.openxmlformats.org/officeDocument/2006/relationships/slide" Target="/ppt/slides/slide4.xml" Id="R483c1ac73e3942f7" /><Relationship Type="http://schemas.openxmlformats.org/officeDocument/2006/relationships/slide" Target="/ppt/slides/slide5.xml" Id="R6501cf419dae4315" /><Relationship Type="http://schemas.openxmlformats.org/officeDocument/2006/relationships/slide" Target="/ppt/slides/slide6.xml" Id="R35d0383966034de0" /><Relationship Type="http://schemas.openxmlformats.org/officeDocument/2006/relationships/slide" Target="/ppt/slides/slide7.xml" Id="R48cf4e80c5c94897" /><Relationship Type="http://schemas.openxmlformats.org/officeDocument/2006/relationships/slide" Target="/ppt/slides/slide8.xml" Id="Re042d52c91934b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88f4a6b4f341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28ed4ca55d4876" /><Relationship Type="http://schemas.openxmlformats.org/officeDocument/2006/relationships/notesMaster" Target="/ppt/notesMasters/notesMaster1.xml" Id="R60e23adeda6740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f3f27b80504afb" /><Relationship Type="http://schemas.openxmlformats.org/officeDocument/2006/relationships/notesMaster" Target="/ppt/notesMasters/notesMaster1.xml" Id="Rf6829032c20e47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f009db58cd4fde" /><Relationship Type="http://schemas.openxmlformats.org/officeDocument/2006/relationships/notesMaster" Target="/ppt/notesMasters/notesMaster1.xml" Id="R37076116548d40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b30b85e2ca49c8" /><Relationship Type="http://schemas.openxmlformats.org/officeDocument/2006/relationships/notesMaster" Target="/ppt/notesMasters/notesMaster1.xml" Id="R6ec3d46428a744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d8d141b7134ef5" /><Relationship Type="http://schemas.openxmlformats.org/officeDocument/2006/relationships/notesMaster" Target="/ppt/notesMasters/notesMaster1.xml" Id="Rbc047ca878ec42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bb023ae61f4157" /><Relationship Type="http://schemas.openxmlformats.org/officeDocument/2006/relationships/notesMaster" Target="/ppt/notesMasters/notesMaster1.xml" Id="R3d698f1d3ac743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3b027b63be4752" /><Relationship Type="http://schemas.openxmlformats.org/officeDocument/2006/relationships/notesMaster" Target="/ppt/notesMasters/notesMaster1.xml" Id="R1a7885f16b234f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fc4e173598494f" /><Relationship Type="http://schemas.openxmlformats.org/officeDocument/2006/relationships/notesMaster" Target="/ppt/notesMasters/notesMaster1.xml" Id="R64f1bf1ffbb943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a evolução da API na segunda OAT e contextualizar os requisitos principais.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rapidamente a ordem da apresentação. O foco será mostrar como cada requisito foi implementado.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o caminho completo de uma requisição. Ressaltar que o armazenamento continua em memória e que DTOs agora protegem todas as respostas.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os status obrigatórios e destacar ItemPedidoPeca como a associação entre pedido e peça. A quantidade pertence à associação.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que o Builder concentra a criação complexa da OS. Em seguida, explicar que cada direção da fronteira HTTP passa por um mapper.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cada user story com sua rota. Na demonstração, criar uma OS e um pedido, adicionar uma peça e alterar os dois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Percorrer o diagrama seguindo a visão lógica do controller. Explicar também os dois desvios: entrada inválida e referência inexistente.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Fechar com o resultado confirmado da suíte. Reforçar que os requisitos da OAT 2 aparecem no código, nos testes e nos diagramas.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d02049437842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a46ede79c14f44" /><Relationship Type="http://schemas.openxmlformats.org/officeDocument/2006/relationships/slideLayout" Target="/ppt/slideLayouts/slideLayout1.xml" Id="Rb1192f806e6443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192f806e6443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2b99c191949ae" /><Relationship Type="http://schemas.openxmlformats.org/officeDocument/2006/relationships/image" Target="/ppt/media/image.png" Id="R7f71ffbba51044ff" /><Relationship Type="http://schemas.openxmlformats.org/officeDocument/2006/relationships/notesSlide" Target="/ppt/notesSlides/notesSlide1.xml" Id="Reae598c29d5d4e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27969b04543f2" /><Relationship Type="http://schemas.openxmlformats.org/officeDocument/2006/relationships/notesSlide" Target="/ppt/notesSlides/notesSlide2.xml" Id="Ra88bdd7cd6e14a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f87aec30241ad" /><Relationship Type="http://schemas.openxmlformats.org/officeDocument/2006/relationships/image" Target="/ppt/media/image2.png" Id="Rf511eaf6e9c7413d" /><Relationship Type="http://schemas.openxmlformats.org/officeDocument/2006/relationships/notesSlide" Target="/ppt/notesSlides/notesSlide3.xml" Id="R931ffbbde2a745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5ad0652cf4094" /><Relationship Type="http://schemas.openxmlformats.org/officeDocument/2006/relationships/image" Target="/ppt/media/image3.png" Id="R2a71a1e61e5b43b1" /><Relationship Type="http://schemas.openxmlformats.org/officeDocument/2006/relationships/notesSlide" Target="/ppt/notesSlides/notesSlide4.xml" Id="R11cd4afa26114c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d444915ee48d3" /><Relationship Type="http://schemas.openxmlformats.org/officeDocument/2006/relationships/image" Target="/ppt/media/image4.png" Id="Rb852190e03824da0" /><Relationship Type="http://schemas.openxmlformats.org/officeDocument/2006/relationships/notesSlide" Target="/ppt/notesSlides/notesSlide5.xml" Id="R6a314a3bd53f48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a962920344a06" /><Relationship Type="http://schemas.openxmlformats.org/officeDocument/2006/relationships/image" Target="/ppt/media/image5.png" Id="R2d7640c2bb5943ad" /><Relationship Type="http://schemas.openxmlformats.org/officeDocument/2006/relationships/notesSlide" Target="/ppt/notesSlides/notesSlide6.xml" Id="R6919d585632643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00abf80124e55" /><Relationship Type="http://schemas.openxmlformats.org/officeDocument/2006/relationships/image" Target="/ppt/media/image6.png" Id="R8ac1b1ebd5984539" /><Relationship Type="http://schemas.openxmlformats.org/officeDocument/2006/relationships/notesSlide" Target="/ppt/notesSlides/notesSlide7.xml" Id="Re7c4a714c5c849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0abd3c6a441dc" /><Relationship Type="http://schemas.openxmlformats.org/officeDocument/2006/relationships/image" Target="/ppt/media/image7.png" Id="Reb37a82d94d846e6" /><Relationship Type="http://schemas.openxmlformats.org/officeDocument/2006/relationships/notesSlide" Target="/ppt/notesSlides/notesSlide8.xml" Id="Ra5fbf8b28be74f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1ffbba51044ff"/>
          <a:stretch xmlns:a="http://schemas.openxmlformats.org/drawingml/2006/main"/>
        </p:blipFill>
        <p:spPr>
          <a:xfrm xmlns:a="http://schemas.openxmlformats.org/drawingml/2006/main">
            <a:off x="904875" y="533400"/>
            <a:ext cx="1514475" cy="857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1EE44-BC85-474F-B4DE-8685D22A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"/>
            <a:ext cx="5191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Centro Universitário de Excelência</a:t>
            </a:r>
          </a:p>
          <a:p xmlns:a="http://schemas.openxmlformats.org/drawingml/2006/main">
            <a:pPr>
              <a:defRPr sz="2025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Sistemas de Informação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856D0-F97F-4AE0-8259-BD7A7168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Web API Fundacional</a:t>
            </a:r>
          </a:p>
          <a:p xmlns:a="http://schemas.openxmlformats.org/drawingml/2006/main">
            <a:pPr>
              <a:defRPr sz="375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da MecâniQA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30FD1-95AF-4878-BC4D-EA3F558B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OAT 2 - Ordens de serviço, pedidos, Builder, DTOs e mappers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72CBF-0CA0-4E4B-82A9-D25993AB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5619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028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Autores: Esther Correia Pereira</a:t>
            </a:r>
          </a:p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Hiago Alecsander Santana Moreira</a:t>
            </a:r>
          </a:p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João Lucas Barros Botêlho</a:t>
            </a:r>
          </a:p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Pedro Henrique Silva Freire</a:t>
            </a:r>
          </a:p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Pedro Henrique Campos Dourado</a:t>
            </a:r>
          </a:p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Thales Miguel Lima de Souza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82D4B-9F1D-4E5C-BF9C-CFC08551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905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Belo Horizonte,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20B42-4ED3-468F-8BAA-53CB0822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579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574967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8AB7D4-618C-478D-8D54-F5A2E70D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7051E-66CE-49BB-AA3E-83006DD9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EFDC0-66A8-4416-9847-5B3953C9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AAD5D-6405-4917-BB70-F82D19BD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3286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Evoluir a API para controlar ordens de serviço e pedidos de peças sem expor as entidades do domínio.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D6E6C-B5A9-4B6A-AB21-31B0A6E1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714375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81618-F719-4406-8A03-5E5A5655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71437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Escopo e arquitetura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82862-0604-456D-8AA3-545D3579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076325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Persistência em memória e separação por camadas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DB68C-9129-4B39-B24B-984F3917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781175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BD8AD-9FF2-4D07-8734-5D7DE9CB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8117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Modelagem do domínio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F01B3-C13D-4D1C-A032-A01052B3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43125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OS, pedido, item associativo e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75F2C-440E-4945-8113-2940E175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47975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4D53C-5A17-47EC-A878-9206887A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4797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Padrões aplicados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8A291-6A7F-4529-89E2-254E0EDA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09925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Builder, Singleton, DTOs e mappers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0E817-876B-41E2-B4E9-C92E3287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14775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3D66C-80CA-44B4-987C-EAD5FD0C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91477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API e fluxo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12A24-F77E-426C-A377-75B65369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76725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Cinco histórias e atividade do controller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D985F-0D2A-4673-8F13-2A62D0B9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81575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29724-22AF-4B25-9292-10BDCB35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8157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Validação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92B87D-1828-408B-98A6-74635D1D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343525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30 testes automatizados sem falhas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9B5C6-3FA5-497A-B6DD-EF056189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579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762230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071D3D-1640-452E-99E7-90EBE99D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Escopo e arquitetura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1eaf6e9c7413d"/>
          <a:stretch xmlns:a="http://schemas.openxmlformats.org/drawingml/2006/main"/>
        </p:blipFill>
        <p:spPr>
          <a:xfrm xmlns:a="http://schemas.openxmlformats.org/drawingml/2006/main">
            <a:off x="10429240" y="304800"/>
            <a:ext cx="1144270" cy="647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F1CE5-D1F8-4281-B785-62DA36BD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49605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Web API Fundacional da MecâniQA - OAT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958BD-257C-46A0-92B0-862A04E7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579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47DF3-D7A4-4C6E-8940-42E17636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Cliente HTTP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C58B4-0425-400A-A265-9C40F37C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Controller REST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DC024-5648-48E6-918C-E0FF8436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09875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Validação dos DTOs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075B5-98D7-466A-A006-F172F936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2425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Mapper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1EBE0-E9BA-49A9-92DD-C019EC01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38625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Repository Singleton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5CD8D-C7AD-4957-BA75-B384A52B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Lista em memória</a:t>
            </a:r>
          </a:p>
        </p:txBody>
      </p:sp>
      <p:cxnSp>
        <p:nvCxnSpPr>
          <p:cNvPr id="29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428875" y="183832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6565"/>
            </a:solidFill>
            <a:prstDash val="solid"/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428875" y="255270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6565"/>
            </a:solidFill>
            <a:prstDash val="solid"/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428875" y="326707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6565"/>
            </a:solidFill>
            <a:prstDash val="solid"/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428875" y="39814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6565"/>
            </a:solidFill>
            <a:prstDash val="solid"/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428875" y="4695825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6565"/>
            </a:solidFill>
            <a:prstDash val="solid"/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DF01E-C7A6-4B24-865E-000682CF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38112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Decisões da sprint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C4C9B-C176-42B4-A18D-CEBC5C4E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52625"/>
            <a:ext cx="5810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• Sem banco de dados ou Spring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• Repositories estáticos mantêm o padrão Singleton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• Controllers recebem e devolvem apenas DTOs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• Mappers isolam a conversão do domínio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• Lombok não participa do projeto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9DCD6-0260-4269-BD78-34369101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34000"/>
            <a:ext cx="581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Resultado: o domínio permanece protegido e a estrutura continua compatível com a OAT 1.</a:t>
            </a:r>
          </a:p>
        </p:txBody>
      </p:sp>
    </p:spTree>
    <p:extLst>
      <p:ext uri="{BB962C8B-B14F-4D97-AF65-F5344CB8AC3E}">
        <p14:creationId xmlns:p14="http://schemas.microsoft.com/office/powerpoint/2010/main" val="10708133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BEEE9-49B4-4C8D-9E6F-63CB2BE0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Modelagem do domínio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1a1e61e5b43b1"/>
          <a:stretch xmlns:a="http://schemas.openxmlformats.org/drawingml/2006/main"/>
        </p:blipFill>
        <p:spPr>
          <a:xfrm xmlns:a="http://schemas.openxmlformats.org/drawingml/2006/main">
            <a:off x="10429240" y="304800"/>
            <a:ext cx="1144270" cy="647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389A3-C6E7-4EAE-BEC4-A354E615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49605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Web API Fundacional da MecâniQA - OAT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F32E8-B756-41B0-9609-AE6F69EA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579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53121-0B57-445A-B28E-829A159C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76375"/>
            <a:ext cx="32861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OrdemServico</a:t>
            </a:r>
          </a:p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────────────</a:t>
            </a:r>
          </a:p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codigo: Long</a:t>
            </a:r>
          </a:p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cliente: String</a:t>
            </a:r>
          </a:p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veiculo: String</a:t>
            </a:r>
          </a:p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descricao: String</a:t>
            </a:r>
          </a:p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status: StatusOrdemServico</a:t>
            </a:r>
          </a:p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pecas: List&lt;Peca&gt;</a:t>
            </a:r>
          </a:p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servicos: List&lt;Servico&gt;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BA032-05AA-4202-A67F-F543988F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76375"/>
            <a:ext cx="2952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StatusOrdemServico «enum»</a:t>
            </a:r>
          </a:p>
          <a:p xmlns:a="http://schemas.openxmlformats.org/drawingml/2006/main">
            <a:pPr>
              <a:defRPr sz="1425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────────────</a:t>
            </a:r>
          </a:p>
          <a:p xmlns:a="http://schemas.openxmlformats.org/drawingml/2006/main">
            <a:pPr>
              <a:defRPr sz="1425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ABERTO</a:t>
            </a:r>
          </a:p>
          <a:p xmlns:a="http://schemas.openxmlformats.org/drawingml/2006/main">
            <a:pPr>
              <a:defRPr sz="1425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PENDENTE_PAGAMENTO</a:t>
            </a:r>
          </a:p>
          <a:p xmlns:a="http://schemas.openxmlformats.org/drawingml/2006/main">
            <a:pPr>
              <a:defRPr sz="1425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PAGO</a:t>
            </a:r>
          </a:p>
          <a:p xmlns:a="http://schemas.openxmlformats.org/drawingml/2006/main">
            <a:pPr>
              <a:defRPr sz="1425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EM_EXECUCAO</a:t>
            </a:r>
          </a:p>
          <a:p xmlns:a="http://schemas.openxmlformats.org/drawingml/2006/main">
            <a:pPr>
              <a:defRPr sz="1425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EXECUTADO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BB566-4167-4A13-A493-3367E92F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76375"/>
            <a:ext cx="385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PedidoPecas</a:t>
            </a:r>
          </a:p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────────────</a:t>
            </a:r>
          </a:p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codigo: Long</a:t>
            </a:r>
          </a:p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fornecedor: String</a:t>
            </a:r>
          </a:p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status: StatusPedidoPecas</a:t>
            </a:r>
          </a:p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itens: List&lt;ItemPedidoPeca&gt;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958A0-3825-416A-91D1-DF581448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ItemPedidoPeca</a:t>
            </a:r>
          </a:p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────────────</a:t>
            </a:r>
          </a:p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peca: Peca</a:t>
            </a:r>
          </a:p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quantidade: Integer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A71F4-3B22-4520-B8B7-3C59BCEB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33875"/>
            <a:ext cx="295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StatusPedidoPecas «enum»</a:t>
            </a:r>
          </a:p>
          <a:p xmlns:a="http://schemas.openxmlformats.org/drawingml/2006/main">
            <a:pPr>
              <a:defRPr sz="135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ORCANDO</a:t>
            </a:r>
          </a:p>
          <a:p xmlns:a="http://schemas.openxmlformats.org/drawingml/2006/main">
            <a:pPr>
              <a:defRPr sz="135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PENDENTE_PAGAMENTO</a:t>
            </a:r>
          </a:p>
          <a:p xmlns:a="http://schemas.openxmlformats.org/drawingml/2006/main">
            <a:pPr>
              <a:defRPr sz="135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PAGO_FATURADO</a:t>
            </a:r>
          </a:p>
          <a:p xmlns:a="http://schemas.openxmlformats.org/drawingml/2006/main">
            <a:pPr>
              <a:defRPr sz="135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ENTREGUE</a:t>
            </a:r>
          </a:p>
        </p:txBody>
      </p: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810000" y="2690813"/>
            <a:ext cx="381000" cy="45243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6565"/>
            </a:solidFill>
            <a:prstDash val="solid"/>
          </a:ln>
        </p:spPr>
      </p:cxnSp>
      <p:cxnSp>
        <p:nvCxnSpPr>
          <p:cNvPr id="24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8858250" y="3571875"/>
            <a:ext cx="690563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6565"/>
            </a:solidFill>
            <a:prstDash val="solid"/>
            <a:headEnd type="diamond" w="sm" len="sm"/>
          </a:ln>
        </p:spPr>
      </p:cxnSp>
      <p:cxnSp>
        <p:nvCxnSpPr>
          <p:cNvPr id="25" name=""/>
          <p:cNvCxnSpPr>
            <a:stCxn xmlns:a="http://schemas.openxmlformats.org/drawingml/2006/main" id="7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143750" y="2524125"/>
            <a:ext cx="476250" cy="2547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656565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09D6A-18C4-4C6B-B125-CCE088C8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A entidade associativa permite várias peças no mesmo pedido e guarda a quantidade de cada uma.</a:t>
            </a:r>
          </a:p>
        </p:txBody>
      </p:sp>
    </p:spTree>
    <p:extLst>
      <p:ext uri="{BB962C8B-B14F-4D97-AF65-F5344CB8AC3E}">
        <p14:creationId xmlns:p14="http://schemas.microsoft.com/office/powerpoint/2010/main" val="5002855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A7D7E6-FA53-4D3F-99FB-9C55A430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Builder, DTOs e mappers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2190e03824da0"/>
          <a:stretch xmlns:a="http://schemas.openxmlformats.org/drawingml/2006/main"/>
        </p:blipFill>
        <p:spPr>
          <a:xfrm xmlns:a="http://schemas.openxmlformats.org/drawingml/2006/main">
            <a:off x="10429240" y="304800"/>
            <a:ext cx="1144270" cy="647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BC24F-86E4-4706-B2E5-FF35940B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49605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Web API Fundacional da MecâniQA - OAT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F18C3-DFBD-4729-8275-D36D9736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579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610C7-F798-47FC-8952-B7159260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Construção da ordem de serviço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84F50-5B8B-4D82-83FC-8598173E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OrdemServico.builder()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EB574-C3DD-4A7B-BAF4-F5062F4D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714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.cliente()</a:t>
            </a:r>
          </a:p>
          <a:p xmlns:a="http://schemas.openxmlformats.org/drawingml/2006/main">
            <a:pPr>
              <a:defRPr sz="1575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.veiculo()</a:t>
            </a:r>
          </a:p>
          <a:p xmlns:a="http://schemas.openxmlformats.org/drawingml/2006/main">
            <a:pPr>
              <a:defRPr sz="1575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.descricao()</a:t>
            </a:r>
          </a:p>
          <a:p xmlns:a="http://schemas.openxmlformats.org/drawingml/2006/main">
            <a:pPr>
              <a:defRPr sz="1575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.pecas()</a:t>
            </a:r>
          </a:p>
          <a:p xmlns:a="http://schemas.openxmlformats.org/drawingml/2006/main">
            <a:pPr>
              <a:defRPr sz="1575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.servicos()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7110A-1F51-4A69-B728-FE99B3E1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2714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9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.build()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Valida campos obrigatórios</a:t>
            </a:r>
          </a:p>
        </p:txBody>
      </p:sp>
      <p:cxnSp>
        <p:nvCxnSpPr>
          <p:cNvPr id="31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024063" y="264795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6565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024063" y="48577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6565"/>
            </a:solidFill>
            <a:prstDash val="solid"/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862A40-1543-424F-802B-CF215FDC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8112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Fronteira HTTP protegida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F623E-D614-4948-98BA-0AA9A2F3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3837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Request DTO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65364-60C4-42BA-ADFF-C5AB63F7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Mapper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9FE5C-1287-4C93-8D84-9114CDD8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38375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Entidade</a:t>
            </a:r>
          </a:p>
        </p:txBody>
      </p:sp>
      <p:cxnSp>
        <p:nvCxnSpPr>
          <p:cNvPr id="37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905625" y="25717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6565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239250" y="25717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6565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9A70E-6DB8-4450-BFDF-91CA46E6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005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Entidade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5FFEA0-4BE7-47AC-BB6E-A7436B93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Mapper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0BF846-04BE-4CF2-80D9-C4F7C5D5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0005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Response DTO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905625" y="43338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6565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239250" y="43338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56565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81BE7C-872A-408A-8741-775EDF55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286375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Nenhum controller expõe Peca, Servico, OrdemServico ou PedidoPecas diretamente.</a:t>
            </a:r>
          </a:p>
        </p:txBody>
      </p:sp>
    </p:spTree>
    <p:extLst>
      <p:ext uri="{BB962C8B-B14F-4D97-AF65-F5344CB8AC3E}">
        <p14:creationId xmlns:p14="http://schemas.microsoft.com/office/powerpoint/2010/main" val="11575751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52788E-5FDF-4006-883D-32ABAF2F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Histórias atendidas pela API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640c2bb5943ad"/>
          <a:stretch xmlns:a="http://schemas.openxmlformats.org/drawingml/2006/main"/>
        </p:blipFill>
        <p:spPr>
          <a:xfrm xmlns:a="http://schemas.openxmlformats.org/drawingml/2006/main">
            <a:off x="10429240" y="304800"/>
            <a:ext cx="1144270" cy="647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CEE73-3C3F-48E7-9F5C-9969A863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49605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Web API Fundacional da MecâniQA - OAT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99020-68CD-441B-A0A7-DD9475A7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579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B2B5E-41AA-47CB-A942-D7CB036C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História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E4C70-6ABC-413B-95F9-86DD2CDA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381125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22B3D-2971-4EBD-AA76-34A93398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381125"/>
            <a:ext cx="490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Rota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5ECC9-8836-4115-AA89-B955B08E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3811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Resposta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7C481-BF2B-465D-B1AF-35E4935D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811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080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305B7-0BEE-490A-8D3F-2EFEF199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8120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2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23A"/>
                </a:solidFill>
                <a:latin typeface="Arial"/>
                <a:ea typeface="Arial"/>
                <a:cs typeface="Arial"/>
              </a:rPr>
              <a:t>US01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968B4-BAA7-4DA2-A188-D72034B1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81200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Criar 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9F8BF-54AF-4F2C-A2A5-BFEF240A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981200"/>
            <a:ext cx="4905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POST /api/ordens-servico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59387-924F-482C-AEF9-F2818511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81200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201 Created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79378-351B-4F14-8684-534EE37A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527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FDEA68-439F-4001-A237-5994FB98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2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23A"/>
                </a:solidFill>
                <a:latin typeface="Arial"/>
                <a:ea typeface="Arial"/>
                <a:cs typeface="Arial"/>
              </a:rPr>
              <a:t>US02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386D4F-2266-4AF9-97D3-56CF1A41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0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Modificar status da 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97CDD4-2B34-4465-B952-7009D943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62250"/>
            <a:ext cx="4905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PATCH /api/ordens-servico/{codigo}/status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68985-7D56-41CA-9A8A-5C7C4CE4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62250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200 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5C0B8-F80A-4145-8874-AE0D2629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7EAA7B-5828-4047-B6CE-A87BCBCE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4330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2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23A"/>
                </a:solidFill>
                <a:latin typeface="Arial"/>
                <a:ea typeface="Arial"/>
                <a:cs typeface="Arial"/>
              </a:rPr>
              <a:t>US03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F6DCD3-1130-434C-9702-8889D5C7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43300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Criar pedido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91D281-269D-4B21-A77E-B98FD43D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43300"/>
            <a:ext cx="4905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POST /api/pedidos-pecas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8C87A2-F6D4-4A12-8763-A8758A94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43300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201 Created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602E5E-B0B8-4DDC-8FEA-E4CCCF25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148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4F592F-2896-42C4-91FE-01DB37A5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2435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2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23A"/>
                </a:solidFill>
                <a:latin typeface="Arial"/>
                <a:ea typeface="Arial"/>
                <a:cs typeface="Arial"/>
              </a:rPr>
              <a:t>US04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59E16-AE99-49F9-A7ED-69FE997A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24350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Adicionar peça e quantidade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444A6A-4B39-4B1A-86EC-FCD6FE22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324350"/>
            <a:ext cx="4905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POST /api/pedidos-pecas/{codigo}/itens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A6B8C8-5882-4469-B4DD-639C1481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24350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200 OK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7F686-A009-4BD7-89C4-472D8F07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958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35DE53-AA25-46CF-A811-E6E283A2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0540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2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23A"/>
                </a:solidFill>
                <a:latin typeface="Arial"/>
                <a:ea typeface="Arial"/>
                <a:cs typeface="Arial"/>
              </a:rPr>
              <a:t>US05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2C47BA-EDB7-4269-8942-C0FC7572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05400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Modificar status do pedido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36433E-0BD9-490A-99F6-ED3F27DA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105400"/>
            <a:ext cx="4905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PATCH /api/pedidos-pecas/{codigo}/status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227B08-5474-4D62-BC5D-383E419D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105400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200 OK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9C2261-5DC7-4659-8D99-43A758FD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769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F0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24720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1B478-61B7-4508-9E33-979A1D4A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Atividade do controller: criar OS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1b1ebd5984539"/>
          <a:stretch xmlns:a="http://schemas.openxmlformats.org/drawingml/2006/main"/>
        </p:blipFill>
        <p:spPr>
          <a:xfrm xmlns:a="http://schemas.openxmlformats.org/drawingml/2006/main">
            <a:off x="10429240" y="304800"/>
            <a:ext cx="1144270" cy="647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F54F3-EA92-45D5-9B72-01622B17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49605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Web API Fundacional da MecâniQA - OAT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91389-59C3-47A7-A018-CE88B7D5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579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613AB-2EB0-40F6-BADE-A37069B6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Receber e validar</a:t>
            </a:r>
          </a:p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CriarOrdemServicoRequest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BE88C-062A-46E1-9557-0F4533DA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287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Buscar peças e serviços</a:t>
            </a:r>
          </a:p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por código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F4B8C-95E0-4DF9-AC38-D464A979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Mapper usa Builder</a:t>
            </a:r>
          </a:p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para criar a entidade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B1C7F-1471-4940-9739-3F065A32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Salvar no repository</a:t>
            </a:r>
          </a:p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Singleton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D6847-6FD6-402F-8B43-AF7646F6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Converter para</a:t>
            </a:r>
          </a:p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OrdemServicoResponse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8EDE3-B1A1-4B2A-9D3E-C735BEB9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0A0A0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Retornar 201 Created</a:t>
            </a:r>
          </a:p>
          <a:p xmlns:a="http://schemas.openxmlformats.org/drawingml/2006/main">
            <a:pPr>
              <a:defRPr sz="15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e cabeçalho Location</a:t>
            </a:r>
          </a:p>
        </p:txBody>
      </p: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524250" y="17716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6565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17716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6565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96500" y="2114550"/>
            <a:ext cx="0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6565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524750" y="36766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6565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524250" y="36766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6565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6706F-3B2D-4031-BD0D-1CE7DB47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435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Falhas de validação retornam 400. Referências inexistentes retornam 404 pelo tratamento global.</a:t>
            </a:r>
          </a:p>
        </p:txBody>
      </p:sp>
    </p:spTree>
    <p:extLst>
      <p:ext uri="{BB962C8B-B14F-4D97-AF65-F5344CB8AC3E}">
        <p14:creationId xmlns:p14="http://schemas.microsoft.com/office/powerpoint/2010/main" val="16332121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1F755-A5C3-43D8-973A-ED56E16F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Testes e resultado da sprint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7a82d94d846e6"/>
          <a:stretch xmlns:a="http://schemas.openxmlformats.org/drawingml/2006/main"/>
        </p:blipFill>
        <p:spPr>
          <a:xfrm xmlns:a="http://schemas.openxmlformats.org/drawingml/2006/main">
            <a:off x="10429240" y="304800"/>
            <a:ext cx="1144270" cy="647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E00D2-C45B-4772-ABAB-B990DC56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49605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0808"/>
                </a:solidFill>
                <a:latin typeface="Arial"/>
                <a:ea typeface="Arial"/>
                <a:cs typeface="Arial"/>
              </a:rPr>
              <a:t>Web API Fundacional da MecâniQA - OAT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CA72F-A31F-4100-AE54-0E37E14D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579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07314-CED2-432B-8406-299147B3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10123A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10123A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F1AED-1D0E-40F3-8162-6CE4EDE3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testes automatizados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DB903-42AE-4B69-A369-3EA98034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56565"/>
                </a:solidFill>
                <a:latin typeface="Arial"/>
                <a:ea typeface="Arial"/>
                <a:cs typeface="Arial"/>
              </a:rPr>
              <a:t>0 falhas</a:t>
            </a:r>
          </a:p>
          <a:p xmlns:a="http://schemas.openxmlformats.org/drawingml/2006/main">
            <a:pPr>
              <a:defRPr sz="2100" b="1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56565"/>
                </a:solidFill>
                <a:latin typeface="Arial"/>
                <a:ea typeface="Arial"/>
                <a:cs typeface="Arial"/>
              </a:rPr>
              <a:t>BUILD SUCCESSFUL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358E0-41EC-4960-8C59-2A79C4D8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763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Cobertura funcional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1729D-8092-4FD5-821A-05D19944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6191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• Controllers de peças e serviços continuam válidos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• Criação e consulta de ordens de serviço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• Atualização de status da 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• Pedido, item associativo e soma de quantidade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• Atualização de status do pedido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6565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6565"/>
                </a:solidFill>
                <a:latin typeface="Arial"/>
                <a:ea typeface="Arial"/>
                <a:cs typeface="Arial"/>
              </a:rPr>
              <a:t>• Casos inválidos e referências inexistentes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203D6-917E-4255-A5CA-2C10A37D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080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0808"/>
                </a:solidFill>
                <a:latin typeface="Arial"/>
                <a:ea typeface="Arial"/>
                <a:cs typeface="Arial"/>
              </a:rPr>
              <a:t>Entrega: código funcional, UML atualizado, diagrama de atividade e apresentação versionada.</a:t>
            </a:r>
          </a:p>
        </p:txBody>
      </p:sp>
    </p:spTree>
    <p:extLst>
      <p:ext uri="{BB962C8B-B14F-4D97-AF65-F5344CB8AC3E}">
        <p14:creationId xmlns:p14="http://schemas.microsoft.com/office/powerpoint/2010/main" val="7311055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2026-09-28T23:48:36.9850000Z</dcterms:created>
  <dcterms:modified xsi:type="dcterms:W3CDTF">2026-09-28T23:48:36.9850000Z</dcterms:modified>
</coreProperties>
</file>